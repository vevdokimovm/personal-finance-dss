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</c:v>
                </c:pt>
              </c:strCache>
            </c:strRef>
          </c:tx>
          <c:spPr>
            <a:solidFill>
              <a:srgbClr val="34E2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LTV</c:v>
                  </c:pt>
                  <c:pt idx="1">
                    <c:v>CAC organic</c:v>
                  </c:pt>
                  <c:pt idx="2">
                    <c:v>CAC paid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</c:v>
                </c:pt>
                <c:pt idx="1">
                  <c:v>1000</c:v>
                </c:pt>
                <c:pt idx="2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4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4"/>
        </a:solidFill>
        <a:ln>
          <a:noFill/>
        </a:ln>
        <a:effectLst/>
      </c:spPr>
    </c:plotArea>
    <c:plotVisOnly val="1"/>
    <c:dispBlanksAs val="span"/>
  </c:chart>
  <c:spPr>
    <a:solidFill>
      <a:srgbClr val="0A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68680"/>
            <a:ext cx="3383280" cy="3136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financial navigator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66928" y="28529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decision-support system for personal finance: it tells you what to do with your money — and explains why.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3977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product · v2.0.2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don't know what to do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their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51.9%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“know the basics, but get lost in complex financial decisions”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survey, 385 respondents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883664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off debt early, or save for a goal?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question — with no simple answer.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770632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70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apps show the past.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the money went” — not “what to do next.”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70.1% rely on built-in bank stats.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18.7% use a dedicated financial tool.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 — not a tracker, an advisor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 describe the past. FINPILOT tells you what to do with every free ruble — and shows the math.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571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what to do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345643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to put toward debt, reserve, and goals — a concrete monthly allocation of your free cash.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5717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75304" y="345643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math (SAW + Avalanche), not a black box. You see how and why it's calculated.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5717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future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45936" y="345643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Monte-Carlo forecast with a confidence interval: what happens to your finances under this plan.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trust transparent math,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“AI black box”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 transparent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FINPILOT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10128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AI as a black box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typical “AI assistant”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548640" cy="548640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686" y="201716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Everyone's building AI assistants.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2606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and transparency are our counter-positioning — and a future trust brand.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PFM is descriptive. The prescriptive layer — nobody does it yet.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enters income, expenses, debts, and goals — the engine returns an allocation, an explanation, and a forecast.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07792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5900" y="2907792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2907792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2907792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2907792"/>
            <a:ext cx="1613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Monte-Carlo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math, not a black box.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0F1520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69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</a:t>
            </a:r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Financial overview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60020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· reserve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39,500 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22008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60020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L(t) · liquidity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0024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56632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4414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D(t) · debt load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4414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BLR · buffer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56632" y="3191256"/>
            <a:ext cx="3557016" cy="1097280"/>
          </a:xfrm>
          <a:prstGeom prst="roundRect">
            <a:avLst>
              <a:gd name="adj" fmla="val 6667"/>
            </a:avLst>
          </a:prstGeom>
          <a:solidFill>
            <a:srgbClr val="10261B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2826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recommendation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02936" y="359359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 20%  </a:t>
            </a:r>
            <a:pPr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 40%  </a:t>
            </a:r>
            <a:pPr indent="0" marL="0">
              <a:buNone/>
            </a:pPr>
            <a:r>
              <a:rPr lang="en-US" sz="1000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 40%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38862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debt load is healthy → reserve first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market, realistic 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947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~80M 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67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~160B ₽ / year — the whole money-management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5BE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43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~8M people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~10–13B ₽ / year — our profile segment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realistic, 3–5 yrs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~5–30M ₽ / year — obtainable share (B2C)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Bottom-up method: users × conversion × ARPU. Assumptions — in the strategy doc.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is the storefront,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is the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21408"/>
            <a:ext cx="566928" cy="56692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22688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subscription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tracking is free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(what to do + forecast) — paid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199–299 ₽ / mo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121408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22688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infrastructure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75304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the engine via API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Advisors: 1,500–3,000 ₽/seat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per-MAU · banks white-label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2121408"/>
            <a:ext cx="566928" cy="56692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49" y="226880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04304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 → 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gives PMF, data, and a case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gives revenue and a moat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sequence, not a choice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organic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38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₽/mo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9748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938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62072" y="2212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81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355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97480" y="2971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3081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62072" y="3355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 &lt; value.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charge 250 ₽; we save the client thousands of ₽ in interest overpayment.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vs CAC, ₽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892040" y="1874520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89204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 CAC ≈ LTV → grow organically; ads only after retention.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advisor vs. trackers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customer's job (JTBD): “decide what to do with my free money — and explain why.”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does the job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PFM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built-in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blind spot, past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Trackers (CoinKeeper, Zenmoney)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sync, familiar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describe, don't advise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/ in your head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flexible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manual, abandoned in 2 weeks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E2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tells you what to do and 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+ alternatives comparison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TRACTION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hypothesis — proven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idea or prototype — a working engine, with screens.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57016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respondents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times more than the strongest teams in our cohort.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59 / 54%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2764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trust drivers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7648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alternatives, numeric explanation, transparency — = FINPILOT.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growth, mobile-first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playbook proven in our cohort: content → anticipation → launch. Cheap, no ad-budget burn.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868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779" y="23971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channel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“Pay off or save” breakdowns — showing the engine in action.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79192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0420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31" y="23971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25496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demand and anticipation before the bot ships.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9744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90972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883" y="239719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9472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56048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Mobile-first: 76.7% want mobile, 25% want a TG bot.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40296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21524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435" y="239719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0024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86600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CAC ≪ 1,000 ₽. LTV/CAC ≥ 3 only this way.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45920" cy="164592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Name Surname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backend developer · author of the product and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971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Single-handedly designed and built a live product, v2.0.2: the math engine (SAW, Avalanche, Monte-Carlo), the backend, and the interface. A strong signal of execution — the product already exists, not on paper.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Fill in name / photo. Hiring plan — next stage.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amount ]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[N] months. Where: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mobile (Telegram bot)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 &amp; content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B2B pilot with advisors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194560"/>
            <a:ext cx="146304" cy="146304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93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6 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048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bot, onboarding to aha, retention metrics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971800"/>
            <a:ext cx="146304" cy="146304"/>
          </a:xfrm>
          <a:prstGeom prst="ellipse">
            <a:avLst/>
          </a:prstGeom>
          <a:solidFill>
            <a:srgbClr val="5BE8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8712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18 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82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engine, organic growth, first B2B pilot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959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infrastructure (API, white-label) — core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3108960" cy="2880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566928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smart financial decisions accessible to everyone — transparent and clear.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[ contact / @telegram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— Investor Deck</dc:title>
  <dc:subject>PptxGenJS Presentation</dc:subject>
  <dc:creator>FINPILOT</dc:creator>
  <cp:lastModifiedBy>FINPILOT</cp:lastModifiedBy>
  <cp:revision>1</cp:revision>
  <dcterms:created xsi:type="dcterms:W3CDTF">2026-05-31T03:07:37Z</dcterms:created>
  <dcterms:modified xsi:type="dcterms:W3CDTF">2026-05-31T03:07:37Z</dcterms:modified>
</cp:coreProperties>
</file>