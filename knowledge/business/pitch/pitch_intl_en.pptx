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868680"/>
            <a:ext cx="3383280" cy="31363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371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5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5800" dirty="0"/>
          </a:p>
        </p:txBody>
      </p:sp>
      <p:sp>
        <p:nvSpPr>
          <p:cNvPr id="4" name="Text 1"/>
          <p:cNvSpPr/>
          <p:nvPr/>
        </p:nvSpPr>
        <p:spPr>
          <a:xfrm>
            <a:off x="566928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financial decisions, anywhere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66928" y="281635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explainable engine that tells people what to do with their money — and shows the math. Not a black box.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3950208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131A26"/>
          </a:solidFill>
          <a:ln w="12700">
            <a:solidFill>
              <a:srgbClr val="34E27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39502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E2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product · v2.0.2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deck · global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everywhere don't know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 with their money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574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45M+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adults use a digital money tool — yet most still don't know what to do with their cash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CFPB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883664"/>
            <a:ext cx="118872" cy="118872"/>
          </a:xfrm>
          <a:prstGeom prst="ellipse">
            <a:avLst/>
          </a:prstGeom>
          <a:solidFill>
            <a:srgbClr val="34E27D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783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off debt or save?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21762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app gives a simple, trusted answer.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09160" y="2770632"/>
            <a:ext cx="118872" cy="118872"/>
          </a:xfrm>
          <a:prstGeom prst="ellipse">
            <a:avLst/>
          </a:prstGeom>
          <a:solidFill>
            <a:srgbClr val="34E27D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6700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 shut down in 2024.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3063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 of users were left searching for a replacement.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09160" y="3657600"/>
            <a:ext cx="118872" cy="118872"/>
          </a:xfrm>
          <a:prstGeom prst="ellipse">
            <a:avLst/>
          </a:prstGeom>
          <a:solidFill>
            <a:srgbClr val="34E27D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35570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Trackers show the past.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39502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apps nudge you — as an opaque black box.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advice is rising — but it's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black box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2606040"/>
          </a:xfrm>
          <a:prstGeom prst="roundRect">
            <a:avLst>
              <a:gd name="adj" fmla="val 2909"/>
            </a:avLst>
          </a:prstGeom>
          <a:solidFill>
            <a:srgbClr val="131A26"/>
          </a:solidFill>
          <a:ln w="19050">
            <a:solidFill>
              <a:srgbClr val="34E2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574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58368" y="2926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a transparent algorithm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E2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FINPILOT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828800"/>
            <a:ext cx="2514600" cy="2606040"/>
          </a:xfrm>
          <a:prstGeom prst="roundRect">
            <a:avLst>
              <a:gd name="adj" fmla="val 2909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20574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310128" y="2926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AI as a black box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0128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typical “AI assistant”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874520"/>
            <a:ext cx="548640" cy="548640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7686" y="2017166"/>
            <a:ext cx="263347" cy="26334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72084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money apps are the #1 trend.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035040" y="2606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trusting a black box with your money is hard — explainability is the wedge.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035040" y="35661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E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banking (Plaid, PSD2) makes data easy — the gap is trust, not access.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transparent advisor, not another tracker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Trackers describe the past. Black-box AI nudges you. FINPILOT tells you what to do — and shows the math.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24328" cy="2377440"/>
          </a:xfrm>
          <a:prstGeom prst="roundRect">
            <a:avLst>
              <a:gd name="adj" fmla="val 3077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267712"/>
            <a:ext cx="658368" cy="658368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848" y="2438888"/>
            <a:ext cx="316017" cy="316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Tells you what to do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04672" y="34290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concrete monthly split of free cash across debt, reserve, and goals.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19272" y="2011680"/>
            <a:ext cx="2624328" cy="2377440"/>
          </a:xfrm>
          <a:prstGeom prst="roundRect">
            <a:avLst>
              <a:gd name="adj" fmla="val 3077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75304" y="2267712"/>
            <a:ext cx="658368" cy="658368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480" y="2438888"/>
            <a:ext cx="316017" cy="3160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5304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why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3575304" y="34290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math (SAW + Avalanche) — you see how and why, not a black box.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89904" y="2011680"/>
            <a:ext cx="2624328" cy="2377440"/>
          </a:xfrm>
          <a:prstGeom prst="roundRect">
            <a:avLst>
              <a:gd name="adj" fmla="val 3077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45936" y="2267712"/>
            <a:ext cx="658368" cy="658368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112" y="2438888"/>
            <a:ext cx="316017" cy="31601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45936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the future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6345936" y="34290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Monte-Carlo forecast with a confidence interval for the chosen plan.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 enters income, expenses, debts, and goals — the engine returns an allocation, an explanation, and a forecast.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907792"/>
            <a:ext cx="772668" cy="384048"/>
          </a:xfrm>
          <a:prstGeom prst="roundRect">
            <a:avLst>
              <a:gd name="adj" fmla="val 50000"/>
            </a:avLst>
          </a:prstGeom>
          <a:solidFill>
            <a:srgbClr val="131A26"/>
          </a:solidFill>
          <a:ln w="12700">
            <a:solidFill>
              <a:srgbClr val="34E2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907792"/>
            <a:ext cx="7726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E2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85900" y="2907792"/>
            <a:ext cx="1403604" cy="384048"/>
          </a:xfrm>
          <a:prstGeom prst="roundRect">
            <a:avLst>
              <a:gd name="adj" fmla="val 50000"/>
            </a:avLst>
          </a:prstGeom>
          <a:solidFill>
            <a:srgbClr val="131A26"/>
          </a:solidFill>
          <a:ln w="12700">
            <a:solidFill>
              <a:srgbClr val="34E2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85900" y="2907792"/>
            <a:ext cx="14036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E2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Avalanche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54096" y="2907792"/>
            <a:ext cx="1613916" cy="384048"/>
          </a:xfrm>
          <a:prstGeom prst="roundRect">
            <a:avLst>
              <a:gd name="adj" fmla="val 50000"/>
            </a:avLst>
          </a:prstGeom>
          <a:solidFill>
            <a:srgbClr val="131A26"/>
          </a:solidFill>
          <a:ln w="12700">
            <a:solidFill>
              <a:srgbClr val="34E2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54096" y="2907792"/>
            <a:ext cx="16139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E2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Monte-Carlo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E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math — see how it's calculated.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92040" y="960120"/>
            <a:ext cx="3886200" cy="3611880"/>
          </a:xfrm>
          <a:prstGeom prst="roundRect">
            <a:avLst>
              <a:gd name="adj" fmla="val 2532"/>
            </a:avLst>
          </a:prstGeom>
          <a:solidFill>
            <a:srgbClr val="0F1520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06984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FINPILOT</a:t>
            </a:r>
            <a:pPr indent="0" marL="0"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Financial overview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56632" y="1508760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84648" y="1600200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R(t) · reserve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84648" y="1819656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4E2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$1,580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922008" y="1508760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0024" y="1600200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L(t) · liquidity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050024" y="1819656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4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0.28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5056632" y="2350008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84648" y="2441448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D(t) · debt load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84648" y="2660904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0.35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6922008" y="2350008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50024" y="2441448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BLR · buffer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050024" y="2660904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3.4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5056632" y="3191256"/>
            <a:ext cx="3557016" cy="1097280"/>
          </a:xfrm>
          <a:prstGeom prst="roundRect">
            <a:avLst>
              <a:gd name="adj" fmla="val 6667"/>
            </a:avLst>
          </a:prstGeom>
          <a:solidFill>
            <a:srgbClr val="10261B"/>
          </a:solidFill>
          <a:ln w="12700">
            <a:solidFill>
              <a:srgbClr val="34E27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02936" y="3282696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recommendation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202936" y="3593592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E2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Debt 20%  </a:t>
            </a:r>
            <a:pPr indent="0" marL="0">
              <a:buNone/>
            </a:pPr>
            <a:r>
              <a:rPr lang="en-US" sz="1000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Reserve 40%  </a:t>
            </a:r>
            <a:pPr indent="0" marL="0">
              <a:buNone/>
            </a:pPr>
            <a:r>
              <a:rPr lang="en-US" sz="1000" dirty="0">
                <a:solidFill>
                  <a:srgbClr val="34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Goals 40%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02936" y="388620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debt load is healthy → reserve first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GLOBAL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Large, fast-growing, fragmented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131A26"/>
          </a:solidFill>
          <a:ln w="12700">
            <a:solidFill>
              <a:srgbClr val="34E2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8288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83080" y="1947672"/>
            <a:ext cx="6629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$25–32B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83080" y="2267712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personal-finance apps · ~20% CAGR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6035040" cy="822960"/>
          </a:xfrm>
          <a:prstGeom prst="roundRect">
            <a:avLst>
              <a:gd name="adj" fmla="val 8889"/>
            </a:avLst>
          </a:prstGeom>
          <a:solidFill>
            <a:srgbClr val="131A26"/>
          </a:solidFill>
          <a:ln w="12700">
            <a:solidFill>
              <a:srgbClr val="5BE8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7432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E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783080" y="286207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$3–4B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83080" y="318211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PFM advisory-software niche · ~12% CAGR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131A26"/>
          </a:solidFill>
          <a:ln w="12700">
            <a:solidFill>
              <a:srgbClr val="8B7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6576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783080" y="37764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B2B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83080" y="40965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obtainable through infrastructure, not frontal B2C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 America ~47% of the market; Asia-Pacific fastest-growing. Sized bottom-up (see analysis).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COMPETITION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prescriptive is the open space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Mint closed, the field consolidated — but no one owns transparent, holistic, prescriptive advice.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00400"/>
                <a:gridCol w="29260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Monarch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full-featured tracking + planning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describes; advice is light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Rocket Money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tracking + subscription cancel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describes, doesn't advise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YNAB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method-driven budgeting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manual; no forecast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chatbot advice (debt reset)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 box, not explainable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E2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FINPILOT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E8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transparent prescriptive advice + forecast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E8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edge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1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OUR EDGE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 is the wedge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 isn't a feature — it's the strategy. It earns trust, unlocks compliance, and turns the engine into infrastructure.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24328" cy="2377440"/>
          </a:xfrm>
          <a:prstGeom prst="roundRect">
            <a:avLst>
              <a:gd name="adj" fmla="val 3077"/>
            </a:avLst>
          </a:prstGeom>
          <a:solidFill>
            <a:srgbClr val="131A26"/>
          </a:solidFill>
          <a:ln w="15240">
            <a:solidFill>
              <a:srgbClr val="34E2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267712"/>
            <a:ext cx="658368" cy="658368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848" y="2438888"/>
            <a:ext cx="316017" cy="316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04672" y="34290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math beats black-box AI — people trust what they can see over an opaque assistant.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19272" y="2011680"/>
            <a:ext cx="2624328" cy="2377440"/>
          </a:xfrm>
          <a:prstGeom prst="roundRect">
            <a:avLst>
              <a:gd name="adj" fmla="val 3077"/>
            </a:avLst>
          </a:prstGeom>
          <a:solidFill>
            <a:srgbClr val="131A26"/>
          </a:solidFill>
          <a:ln w="15240">
            <a:solidFill>
              <a:srgbClr val="8B7C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75304" y="2267712"/>
            <a:ext cx="658368" cy="658368"/>
          </a:xfrm>
          <a:prstGeom prst="ellipse">
            <a:avLst/>
          </a:prstGeom>
          <a:solidFill>
            <a:srgbClr val="8B7C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480" y="2438888"/>
            <a:ext cx="316017" cy="3160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5304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3575304" y="34290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Explainable, auditable decisions are an advantage for regulated B2B — banks and advisors need it.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89904" y="2011680"/>
            <a:ext cx="2624328" cy="2377440"/>
          </a:xfrm>
          <a:prstGeom prst="roundRect">
            <a:avLst>
              <a:gd name="adj" fmla="val 3077"/>
            </a:avLst>
          </a:prstGeom>
          <a:solidFill>
            <a:srgbClr val="131A26"/>
          </a:solidFill>
          <a:ln w="15240">
            <a:solidFill>
              <a:srgbClr val="34D3E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45936" y="2267712"/>
            <a:ext cx="658368" cy="658368"/>
          </a:xfrm>
          <a:prstGeom prst="ellipse">
            <a:avLst/>
          </a:prstGeom>
          <a:solidFill>
            <a:srgbClr val="34D3E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112" y="2438888"/>
            <a:ext cx="316017" cy="31601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45936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6345936" y="34290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 is licensable, not just an app — a bigger, more defensible market than another tracker.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first, app as proof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24328" cy="2651760"/>
          </a:xfrm>
          <a:prstGeom prst="roundRect">
            <a:avLst>
              <a:gd name="adj" fmla="val 2787"/>
            </a:avLst>
          </a:prstGeom>
          <a:solidFill>
            <a:srgbClr val="131A26"/>
          </a:solidFill>
          <a:ln w="15240">
            <a:solidFill>
              <a:srgbClr val="8B7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2121408"/>
            <a:ext cx="566928" cy="566928"/>
          </a:xfrm>
          <a:prstGeom prst="ellipse">
            <a:avLst/>
          </a:prstGeom>
          <a:solidFill>
            <a:srgbClr val="8B7C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785" y="226880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12140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· infrastructure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816352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 the engine via API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Fintechs · advisors · banks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 = compliance edge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19272" y="1874520"/>
            <a:ext cx="2624328" cy="2651760"/>
          </a:xfrm>
          <a:prstGeom prst="roundRect">
            <a:avLst>
              <a:gd name="adj" fmla="val 2787"/>
            </a:avLst>
          </a:prstGeom>
          <a:solidFill>
            <a:srgbClr val="131A26"/>
          </a:solidFill>
          <a:ln w="15240">
            <a:solidFill>
              <a:srgbClr val="34E27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57016" y="2121408"/>
            <a:ext cx="566928" cy="566928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417" y="226880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33672" y="212140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· proof &amp; funnel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75304" y="2816352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 tracking + advice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value, feeds data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proof for B2B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89904" y="1874520"/>
            <a:ext cx="2624328" cy="2651760"/>
          </a:xfrm>
          <a:prstGeom prst="roundRect">
            <a:avLst>
              <a:gd name="adj" fmla="val 2787"/>
            </a:avLst>
          </a:prstGeom>
          <a:solidFill>
            <a:srgbClr val="131A26"/>
          </a:solidFill>
          <a:ln w="15240">
            <a:solidFill>
              <a:srgbClr val="34D3E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27648" y="2121408"/>
            <a:ext cx="566928" cy="566928"/>
          </a:xfrm>
          <a:prstGeom prst="ellipse">
            <a:avLst/>
          </a:prstGeom>
          <a:solidFill>
            <a:srgbClr val="34D3E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049" y="2268809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04304" y="212140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C → B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45936" y="2816352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with consumers first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license to institutions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4D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ceiling, defensible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at home, scale via B2B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frontal B2C assault on the US/EU. A sequence that plays to our strengths and avoids the incumbents.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29868" y="2240280"/>
            <a:ext cx="603504" cy="603504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6779" y="2397191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297180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at home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94944" y="3383280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in RU/CIS — engine built, less crowded.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679192" y="19659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60420" y="2240280"/>
            <a:ext cx="603504" cy="603504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331" y="2397191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88920" y="297180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Pluggable sync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825496" y="3383280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aggregator (Plaid/Tink) → thousands of banks.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809744" y="19659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90972" y="2240280"/>
            <a:ext cx="603504" cy="603504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883" y="2397191"/>
            <a:ext cx="289682" cy="28968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19472" y="297180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abroad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956048" y="3383280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 the engine; explainability wins compliance.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940296" y="19659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621524" y="2240280"/>
            <a:ext cx="603504" cy="603504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8435" y="2397191"/>
            <a:ext cx="289682" cy="28968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50024" y="297180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markets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086600" y="3383280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Underserved, open; Asia-Pacific fastest-growing.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product, scalable core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24328" cy="2606040"/>
          </a:xfrm>
          <a:prstGeom prst="roundRect">
            <a:avLst>
              <a:gd name="adj" fmla="val 2807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20574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v2.0.2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86384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32004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engine, not an idea or a deck.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19272" y="1828800"/>
            <a:ext cx="2624328" cy="2606040"/>
          </a:xfrm>
          <a:prstGeom prst="roundRect">
            <a:avLst>
              <a:gd name="adj" fmla="val 2807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57016" y="20574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&gt; 22%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57016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the transparent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57016" y="32004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trust shown math over black-box AI (our research).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9904" y="1828800"/>
            <a:ext cx="2624328" cy="2606040"/>
          </a:xfrm>
          <a:prstGeom prst="roundRect">
            <a:avLst>
              <a:gd name="adj" fmla="val 2807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20574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engine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27648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Source-agnostic core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27648" y="32004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Pluggable providers → new markets and B2B without rebuilding.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645920" cy="1645920"/>
          </a:xfrm>
          <a:prstGeom prst="ellipse">
            <a:avLst/>
          </a:prstGeom>
          <a:solidFill>
            <a:srgbClr val="131A26"/>
          </a:solidFill>
          <a:ln w="19050">
            <a:solidFill>
              <a:srgbClr val="34E2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196596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Name Surname ]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651760" y="24688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· backend developer · author of the product and engine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51760" y="297180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Single-handedly designed and built a live product, v2.0.2: the math engine (SAW, Avalanche, Monte-Carlo), the backend, and the interface. A strong signal of execution — the product already exists, not on paper.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  Fill in name / photo. Hiring plan — next stage.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&amp;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2606040"/>
          </a:xfrm>
          <a:prstGeom prst="roundRect">
            <a:avLst>
              <a:gd name="adj" fmla="val 2807"/>
            </a:avLst>
          </a:prstGeom>
          <a:solidFill>
            <a:srgbClr val="131A26"/>
          </a:solidFill>
          <a:ln w="19050">
            <a:solidFill>
              <a:srgbClr val="34E2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raising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amount ]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[N] months. Where: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the model at home (RU/CIS)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Pluggable bank-sync + mobile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B2B pilot abroad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1783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2194560"/>
            <a:ext cx="146304" cy="146304"/>
          </a:xfrm>
          <a:prstGeom prst="ellipse">
            <a:avLst/>
          </a:prstGeom>
          <a:solidFill>
            <a:srgbClr val="34E27D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209397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→ 6 mo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40487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at home: bot, onboarding, retention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2971800"/>
            <a:ext cx="146304" cy="146304"/>
          </a:xfrm>
          <a:prstGeom prst="ellipse">
            <a:avLst/>
          </a:prstGeom>
          <a:solidFill>
            <a:srgbClr val="5BE89A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87121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→ 18 mo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318211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layer, paid engine, first B2B pilot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3749040"/>
            <a:ext cx="146304" cy="146304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364845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18+ mo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395935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infrastructure abroad — explainability wedge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914400"/>
            <a:ext cx="3108960" cy="2880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5544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4" name="Text 1"/>
          <p:cNvSpPr/>
          <p:nvPr/>
        </p:nvSpPr>
        <p:spPr>
          <a:xfrm>
            <a:off x="566928" y="25603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E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financial decisions transparent and trustworthy — everywhere.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66928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E2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PILOT</a:t>
            </a:r>
            <a:pPr indent="0" marL="0">
              <a:buNone/>
            </a:pPr>
            <a:r>
              <a:rPr lang="en-US" sz="13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[ contact / @telegram 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FINPILOT — Global Investor Deck</dc:title>
  <dc:subject>PptxGenJS Presentation</dc:subject>
  <dc:creator>FINPILOT</dc:creator>
  <cp:lastModifiedBy>FINPILOT</cp:lastModifiedBy>
  <cp:revision>1</cp:revision>
  <dcterms:created xsi:type="dcterms:W3CDTF">2026-05-31T08:01:43Z</dcterms:created>
  <dcterms:modified xsi:type="dcterms:W3CDTF">2026-05-31T08:01:43Z</dcterms:modified>
</cp:coreProperties>
</file>