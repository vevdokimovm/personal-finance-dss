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₽</c:v>
                </c:pt>
              </c:strCache>
            </c:strRef>
          </c:tx>
          <c:spPr>
            <a:solidFill>
              <a:srgbClr val="34E27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LTV</c:v>
                  </c:pt>
                  <c:pt idx="1">
                    <c:v>CAC орг.</c:v>
                  </c:pt>
                  <c:pt idx="2">
                    <c:v>CAC платно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3000</c:v>
                </c:pt>
                <c:pt idx="1">
                  <c:v>1000</c:v>
                </c:pt>
                <c:pt idx="2">
                  <c:v>3000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AA4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242D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4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0E14"/>
        </a:solidFill>
        <a:ln>
          <a:noFill/>
        </a:ln>
        <a:effectLst/>
      </c:spPr>
    </c:plotArea>
    <c:plotVisOnly val="1"/>
    <c:dispBlanksAs val="span"/>
  </c:chart>
  <c:spPr>
    <a:solidFill>
      <a:srgbClr val="0A0E1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868680"/>
            <a:ext cx="3383280" cy="31363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4173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1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</a:t>
            </a:r>
            <a:pPr indent="0" marL="0">
              <a:buNone/>
            </a:pPr>
            <a:r>
              <a:rPr lang="en-US" sz="6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6000" dirty="0"/>
          </a:p>
        </p:txBody>
      </p:sp>
      <p:sp>
        <p:nvSpPr>
          <p:cNvPr id="4" name="Text 1"/>
          <p:cNvSpPr/>
          <p:nvPr/>
        </p:nvSpPr>
        <p:spPr>
          <a:xfrm>
            <a:off x="566928" y="23317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Финансовый штурман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566928" y="2852928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СППР для личных финансов: система, которая говорит, что делать с деньгами — и объясняет почему.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" y="3840480"/>
            <a:ext cx="2606040" cy="365760"/>
          </a:xfrm>
          <a:prstGeom prst="roundRect">
            <a:avLst>
              <a:gd name="adj" fmla="val 50000"/>
            </a:avLst>
          </a:prstGeom>
          <a:solidFill>
            <a:srgbClr val="131A26"/>
          </a:solidFill>
          <a:ln w="12700">
            <a:solidFill>
              <a:srgbClr val="34E27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3840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E2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Работающий продукт · v2.0.2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Инвесторская презентация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ПРОБЛЕМА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Люди не знают, что делать со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своими деньгами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931920" cy="2651760"/>
          </a:xfrm>
          <a:prstGeom prst="roundRect">
            <a:avLst>
              <a:gd name="adj" fmla="val 2759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574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51,9%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«знают основы, но теряются в сложных финансовых решениях»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977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опрос, 385 респондентов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1883664"/>
            <a:ext cx="118872" cy="118872"/>
          </a:xfrm>
          <a:prstGeom prst="ellipse">
            <a:avLst/>
          </a:prstGeom>
          <a:solidFill>
            <a:srgbClr val="34E27D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783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Гасить долг досрочно или копить на цель?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21762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Самый частый вопрос — и на него нет простого ответа.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09160" y="2770632"/>
            <a:ext cx="118872" cy="118872"/>
          </a:xfrm>
          <a:prstGeom prst="ellipse">
            <a:avLst/>
          </a:prstGeom>
          <a:solidFill>
            <a:srgbClr val="34E27D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26700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Банковские приложения показывают прошлое.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0" y="3063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«Куда ушли деньги» — но не «что делать дальше».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709160" y="3657600"/>
            <a:ext cx="118872" cy="118872"/>
          </a:xfrm>
          <a:prstGeom prst="ellipse">
            <a:avLst/>
          </a:prstGeom>
          <a:solidFill>
            <a:srgbClr val="34E27D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355701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70,1% сидят во встроенной банк-статистике.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37760" y="39502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18,7% используют отдельный финансовый инструмент.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</a:t>
            </a:r>
            <a:pPr algn="l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РЕШЕНИЕ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FINPILOT — не трекер, а советник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Трекеры описывают прошлое. FINPILOT говорит, что делать с каждым свободным рублём — и показывает расчёт.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624328" cy="2377440"/>
          </a:xfrm>
          <a:prstGeom prst="roundRect">
            <a:avLst>
              <a:gd name="adj" fmla="val 3077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286000"/>
            <a:ext cx="658368" cy="658368"/>
          </a:xfrm>
          <a:prstGeom prst="ellipse">
            <a:avLst/>
          </a:prstGeom>
          <a:solidFill>
            <a:srgbClr val="34E27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848" y="2457176"/>
            <a:ext cx="316017" cy="31601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0358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Говорит, что делать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04672" y="3456432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Сколько направить на долг, резерв и цели — конкретное распределение свободных денег на месяц.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19272" y="2011680"/>
            <a:ext cx="2624328" cy="2377440"/>
          </a:xfrm>
          <a:prstGeom prst="roundRect">
            <a:avLst>
              <a:gd name="adj" fmla="val 3077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75304" y="2286000"/>
            <a:ext cx="658368" cy="658368"/>
          </a:xfrm>
          <a:prstGeom prst="ellipse">
            <a:avLst/>
          </a:prstGeom>
          <a:solidFill>
            <a:srgbClr val="34E27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480" y="2457176"/>
            <a:ext cx="316017" cy="31601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75304" y="30358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Объясняет почему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3575304" y="3456432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Прозрачная математика (SAW + метод Avalanche), а не чёрный ящик. Видно, как и почему посчитано.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089904" y="2011680"/>
            <a:ext cx="2624328" cy="2377440"/>
          </a:xfrm>
          <a:prstGeom prst="roundRect">
            <a:avLst>
              <a:gd name="adj" fmla="val 3077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45936" y="2286000"/>
            <a:ext cx="658368" cy="658368"/>
          </a:xfrm>
          <a:prstGeom prst="ellipse">
            <a:avLst/>
          </a:prstGeom>
          <a:solidFill>
            <a:srgbClr val="34E27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112" y="2457176"/>
            <a:ext cx="316017" cy="31601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45936" y="30358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Показывает будущее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345936" y="3456432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Прогноз Монте-Карло с доверительным интервалом: что будет с финансами при выбранном решении.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</a:t>
            </a:r>
            <a:pPr algn="l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822960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ПОЧЕМУ СЕЙЧАС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Доверяют прозрачной математике,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не «ИИ-чёрному ящику»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14600" cy="2606040"/>
          </a:xfrm>
          <a:prstGeom prst="roundRect">
            <a:avLst>
              <a:gd name="adj" fmla="val 2909"/>
            </a:avLst>
          </a:prstGeom>
          <a:solidFill>
            <a:srgbClr val="131A26"/>
          </a:solidFill>
          <a:ln w="19050">
            <a:solidFill>
              <a:srgbClr val="34E27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5740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85800" y="29260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доверяют прозрачному алгоритму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3611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E2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FINPILOT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1828800"/>
            <a:ext cx="2514600" cy="2606040"/>
          </a:xfrm>
          <a:prstGeom prst="roundRect">
            <a:avLst>
              <a:gd name="adj" fmla="val 2909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205740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3337560" y="29260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доверяют ИИ как чёрному ящику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3611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обычный «ИИ-ассистент»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874520"/>
            <a:ext cx="548640" cy="548640"/>
          </a:xfrm>
          <a:prstGeom prst="ellipse">
            <a:avLst/>
          </a:prstGeom>
          <a:solidFill>
            <a:srgbClr val="34E27D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7686" y="2017166"/>
            <a:ext cx="263347" cy="263347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720840" y="1828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клепают «ИИ-ассистентов».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035040" y="26060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Объяснимость и прозрачность — наше контр-позиционирование и будущий бренд доверия.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035040" y="35204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E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Банковский PFM — описательный. Прескриптивный слой пока не делает никто.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</a:t>
            </a:r>
            <a:pPr algn="l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22960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ПРОДУКТ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это работает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 вводит доходы, расходы, долги и цели — движок выдаёт распределение, объяснение и прогноз.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ДВИЖОК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816352"/>
            <a:ext cx="772668" cy="384048"/>
          </a:xfrm>
          <a:prstGeom prst="roundRect">
            <a:avLst>
              <a:gd name="adj" fmla="val 50000"/>
            </a:avLst>
          </a:prstGeom>
          <a:solidFill>
            <a:srgbClr val="131A26"/>
          </a:solidFill>
          <a:ln w="12700">
            <a:solidFill>
              <a:srgbClr val="34E2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816352"/>
            <a:ext cx="7726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E2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485900" y="2816352"/>
            <a:ext cx="1403604" cy="384048"/>
          </a:xfrm>
          <a:prstGeom prst="roundRect">
            <a:avLst>
              <a:gd name="adj" fmla="val 50000"/>
            </a:avLst>
          </a:prstGeom>
          <a:solidFill>
            <a:srgbClr val="131A26"/>
          </a:solidFill>
          <a:ln w="12700">
            <a:solidFill>
              <a:srgbClr val="34E27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85900" y="2816352"/>
            <a:ext cx="14036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E2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Avalanche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54096" y="2816352"/>
            <a:ext cx="1613916" cy="384048"/>
          </a:xfrm>
          <a:prstGeom prst="roundRect">
            <a:avLst>
              <a:gd name="adj" fmla="val 50000"/>
            </a:avLst>
          </a:prstGeom>
          <a:solidFill>
            <a:srgbClr val="131A26"/>
          </a:solidFill>
          <a:ln w="12700">
            <a:solidFill>
              <a:srgbClr val="34E27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54096" y="2816352"/>
            <a:ext cx="16139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E2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Монте-Карло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429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E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Прозрачная математика, а не чёрный ящик.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892040" y="960120"/>
            <a:ext cx="3886200" cy="3611880"/>
          </a:xfrm>
          <a:prstGeom prst="roundRect">
            <a:avLst>
              <a:gd name="adj" fmla="val 2532"/>
            </a:avLst>
          </a:prstGeom>
          <a:solidFill>
            <a:srgbClr val="0F1520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106984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FINPILOT</a:t>
            </a:r>
            <a:pPr indent="0" marL="0"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Финансовый обзор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56632" y="1508760"/>
            <a:ext cx="1691640" cy="749808"/>
          </a:xfrm>
          <a:prstGeom prst="roundRect">
            <a:avLst>
              <a:gd name="adj" fmla="val 9756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84648" y="1600200"/>
            <a:ext cx="1435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R(t) · резерв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184648" y="1819656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4E2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39 500 ₽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6922008" y="1508760"/>
            <a:ext cx="1691640" cy="749808"/>
          </a:xfrm>
          <a:prstGeom prst="roundRect">
            <a:avLst>
              <a:gd name="adj" fmla="val 9756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50024" y="1600200"/>
            <a:ext cx="1435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L(t) · ликвидность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050024" y="1819656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4D3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0.28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5056632" y="2350008"/>
            <a:ext cx="1691640" cy="749808"/>
          </a:xfrm>
          <a:prstGeom prst="roundRect">
            <a:avLst>
              <a:gd name="adj" fmla="val 9756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84648" y="2441448"/>
            <a:ext cx="1435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D(t) · долг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184648" y="2660904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B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0.35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6922008" y="2350008"/>
            <a:ext cx="1691640" cy="749808"/>
          </a:xfrm>
          <a:prstGeom prst="roundRect">
            <a:avLst>
              <a:gd name="adj" fmla="val 9756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50024" y="2441448"/>
            <a:ext cx="1435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BLR · буфер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050024" y="2660904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B7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3.4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5056632" y="3191256"/>
            <a:ext cx="3557016" cy="1097280"/>
          </a:xfrm>
          <a:prstGeom prst="roundRect">
            <a:avLst>
              <a:gd name="adj" fmla="val 6667"/>
            </a:avLst>
          </a:prstGeom>
          <a:solidFill>
            <a:srgbClr val="10261B"/>
          </a:solidFill>
          <a:ln w="12700">
            <a:solidFill>
              <a:srgbClr val="34E27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02936" y="3282696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Рекомендация на месяц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202936" y="3593592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E2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Долг 20%  </a:t>
            </a:r>
            <a:pPr indent="0" marL="0">
              <a:buNone/>
            </a:pPr>
            <a:r>
              <a:rPr lang="en-US" sz="1000" dirty="0">
                <a:solidFill>
                  <a:srgbClr val="8B7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Резерв 40%  </a:t>
            </a:r>
            <a:pPr indent="0" marL="0">
              <a:buNone/>
            </a:pPr>
            <a:r>
              <a:rPr lang="en-US" sz="1000" dirty="0">
                <a:solidFill>
                  <a:srgbClr val="34D3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Цели 40%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02936" y="3886200"/>
            <a:ext cx="3282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Почему: долговая нагрузка в норме → приоритет резерв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</a:t>
            </a:r>
            <a:pPr algn="l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РЫНОК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Большой рынок, реалистичный вход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8046720" cy="822960"/>
          </a:xfrm>
          <a:prstGeom prst="roundRect">
            <a:avLst>
              <a:gd name="adj" fmla="val 8889"/>
            </a:avLst>
          </a:prstGeom>
          <a:solidFill>
            <a:srgbClr val="131A26"/>
          </a:solidFill>
          <a:ln w="12700">
            <a:solidFill>
              <a:srgbClr val="34E27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82880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28800" y="194767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~80 млн пользователей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226771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~160 млрд ₽ / год — весь рынок управления деньгами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6035040" cy="822960"/>
          </a:xfrm>
          <a:prstGeom prst="roundRect">
            <a:avLst>
              <a:gd name="adj" fmla="val 8889"/>
            </a:avLst>
          </a:prstGeom>
          <a:solidFill>
            <a:srgbClr val="131A26"/>
          </a:solidFill>
          <a:ln w="12700">
            <a:solidFill>
              <a:srgbClr val="5BE8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74320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E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828800" y="28620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 млн человек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828800" y="31821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~10–13 млрд ₽ / год — наш сегмент профиля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4023360" cy="822960"/>
          </a:xfrm>
          <a:prstGeom prst="roundRect">
            <a:avLst>
              <a:gd name="adj" fmla="val 8889"/>
            </a:avLst>
          </a:prstGeom>
          <a:solidFill>
            <a:srgbClr val="131A26"/>
          </a:solidFill>
          <a:ln w="12700">
            <a:solidFill>
              <a:srgbClr val="8B7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65760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828800" y="37764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реалистично 3–5 лет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828800" y="40965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~5–30 млн ₽ / год — достижимая доля (B2C)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Метод bottom-up: пользователи × конверсия × средний чек. Допущения — в стратегическом разборе.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</a:t>
            </a:r>
            <a:pPr algn="l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БИЗНЕС-МОДЕЛЬ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B2C — витрина, B2B — деньги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24328" cy="2697480"/>
          </a:xfrm>
          <a:prstGeom prst="roundRect">
            <a:avLst>
              <a:gd name="adj" fmla="val 2787"/>
            </a:avLst>
          </a:prstGeom>
          <a:solidFill>
            <a:srgbClr val="131A26"/>
          </a:solidFill>
          <a:ln w="15240">
            <a:solidFill>
              <a:srgbClr val="34E27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2084832"/>
            <a:ext cx="566928" cy="566928"/>
          </a:xfrm>
          <a:prstGeom prst="ellipse">
            <a:avLst/>
          </a:prstGeom>
          <a:solidFill>
            <a:srgbClr val="34E27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785" y="2232233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08483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B2C · подписка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78892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Freemium: учёт бесплатно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Движок (что делать + прогноз) — платно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199–299 ₽ / мес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19272" y="1828800"/>
            <a:ext cx="2624328" cy="2697480"/>
          </a:xfrm>
          <a:prstGeom prst="roundRect">
            <a:avLst>
              <a:gd name="adj" fmla="val 2787"/>
            </a:avLst>
          </a:prstGeom>
          <a:solidFill>
            <a:srgbClr val="131A26"/>
          </a:solidFill>
          <a:ln w="15240">
            <a:solidFill>
              <a:srgbClr val="8B7C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57016" y="2084832"/>
            <a:ext cx="566928" cy="566928"/>
          </a:xfrm>
          <a:prstGeom prst="ellipse">
            <a:avLst/>
          </a:prstGeom>
          <a:solidFill>
            <a:srgbClr val="8B7CF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4417" y="2232233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33672" y="208483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· инфраструктура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575304" y="278892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Лицензия движка через API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Советники: 1500–3000 ₽/место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8B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Сервисы per-MAU · банки white-label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089904" y="1828800"/>
            <a:ext cx="2624328" cy="2697480"/>
          </a:xfrm>
          <a:prstGeom prst="roundRect">
            <a:avLst>
              <a:gd name="adj" fmla="val 2787"/>
            </a:avLst>
          </a:prstGeom>
          <a:solidFill>
            <a:srgbClr val="131A26"/>
          </a:solidFill>
          <a:ln w="15240">
            <a:solidFill>
              <a:srgbClr val="34D3E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27648" y="2084832"/>
            <a:ext cx="566928" cy="566928"/>
          </a:xfrm>
          <a:prstGeom prst="ellipse">
            <a:avLst/>
          </a:prstGeom>
          <a:solidFill>
            <a:srgbClr val="34D3E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5049" y="2232233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004304" y="208483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Гибрид C → B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345936" y="278892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B2C даёт PMF, данные и кейс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даёт выручку и защищённость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4D3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Последовательность, а не выбор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</a:t>
            </a:r>
            <a:pPr algn="l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822960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ЮНИТ-ЭКОНОМИКА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Сходится на органике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938528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ARPPU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" y="2212848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 ₽/мес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2697480" y="182880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62072" y="1938528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62072" y="2212848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мес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3081528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LTV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3232" y="3355848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3 000 ₽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2697480" y="297180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62072" y="3081528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LTV / CAC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62072" y="3355848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3 ✓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548640" y="40690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ARPPU &lt; ценности.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Берём 250 ₽, экономим клиенту тысячи ₽ переплаты по процентам.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LTV против CAC, ₽</a:t>
            </a:r>
            <a:endParaRPr lang="en-US" sz="11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4892040" y="1874520"/>
          <a:ext cx="388620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Text 16"/>
          <p:cNvSpPr/>
          <p:nvPr/>
        </p:nvSpPr>
        <p:spPr>
          <a:xfrm>
            <a:off x="4892040" y="4526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Платный CAC ≈ LTV → растём органикой, рекламу — только после retention.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</a:t>
            </a:r>
            <a:pPr algn="l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22960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КОНКУРЕНЦИЯ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Советник против трекеров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 клиента (JTBD): «реши, что сделать со свободными деньгами — и объясни почему».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82296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880360"/>
                <a:gridCol w="28803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9AA4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Кто делает работу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9AA4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Сильная сторона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9AA4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Слабость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Банковский PFM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бесплатно, встроено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слепая зона, только прошлое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Трекеры (CoinKeeper, Дзен-мани)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синк с банком, привычно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описывают, не советуют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Excel / в голове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бесплатно, гибко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4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руками, бросают за 2 недели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4E27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FINPILOT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6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E8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советует что делать и почему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6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E8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прогноз + сравнение альтернатив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61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</a:t>
            </a:r>
            <a:pPr algn="l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22960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ТРЕКШЕН И ВАЛИДАЦИЯ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гипотеза — подтверждено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24328" cy="2606040"/>
          </a:xfrm>
          <a:prstGeom prst="roundRect">
            <a:avLst>
              <a:gd name="adj" fmla="val 2807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20574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v2.0.2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86384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Работающий продукт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6384" y="32004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идея и не прототип — живой движок со скриншотами.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19272" y="1828800"/>
            <a:ext cx="2624328" cy="2606040"/>
          </a:xfrm>
          <a:prstGeom prst="roundRect">
            <a:avLst>
              <a:gd name="adj" fmla="val 2807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57016" y="20574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385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557016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Респондентов в опросе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57016" y="32004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Втрое больше, чем у сильнейших команд потока.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9904" y="1828800"/>
            <a:ext cx="2624328" cy="2606040"/>
          </a:xfrm>
          <a:prstGeom prst="roundRect">
            <a:avLst>
              <a:gd name="adj" fmla="val 2807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27648" y="20574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 / 59 / 54%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327648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Топ-драйверы доверия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27648" y="32004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альтернатив, объяснение цифрами, прозрачность — = FINPILOT.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</a:t>
            </a:r>
            <a:pPr algn="l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GO-TO-MARKET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Органический рост, mobile-first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Проверенный в потоке плейбук: контент → ожидание → запуск. Дёшево, без выжигания бюджета на рекламу.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29868" y="2240280"/>
            <a:ext cx="603504" cy="603504"/>
          </a:xfrm>
          <a:prstGeom prst="ellipse">
            <a:avLst/>
          </a:prstGeom>
          <a:solidFill>
            <a:srgbClr val="34E27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6779" y="2397191"/>
            <a:ext cx="289682" cy="2896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2971800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Контент-канал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94944" y="3383280"/>
            <a:ext cx="1673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Разборы «гасить или копить» — показываем движок в деле.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679192" y="196596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360420" y="2240280"/>
            <a:ext cx="603504" cy="603504"/>
          </a:xfrm>
          <a:prstGeom prst="ellipse">
            <a:avLst/>
          </a:prstGeom>
          <a:solidFill>
            <a:srgbClr val="34E27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7331" y="2397191"/>
            <a:ext cx="289682" cy="28968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88920" y="2971800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Waitlist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825496" y="3383280"/>
            <a:ext cx="1673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Сбор спроса и ожидания ещё до релиза бота.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809744" y="196596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490972" y="2240280"/>
            <a:ext cx="603504" cy="603504"/>
          </a:xfrm>
          <a:prstGeom prst="ellipse">
            <a:avLst/>
          </a:prstGeom>
          <a:solidFill>
            <a:srgbClr val="34E27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7883" y="2397191"/>
            <a:ext cx="289682" cy="28968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919472" y="2971800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Telegram-бот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956048" y="3383280"/>
            <a:ext cx="1673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Mobile-first: 76,7% хотят мобайл, 25% — ТГ-бот.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940296" y="196596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131A26"/>
          </a:solidFill>
          <a:ln w="12700">
            <a:solidFill>
              <a:srgbClr val="242D3D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621524" y="2240280"/>
            <a:ext cx="603504" cy="603504"/>
          </a:xfrm>
          <a:prstGeom prst="ellipse">
            <a:avLst/>
          </a:prstGeom>
          <a:solidFill>
            <a:srgbClr val="34E27D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8435" y="2397191"/>
            <a:ext cx="289682" cy="28968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50024" y="2971800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Органика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7086600" y="3383280"/>
            <a:ext cx="1673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— CAC ≪ 1000 ₽. LTV/CAC ≥ 3 только так.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</a:t>
            </a:r>
            <a:pPr algn="l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822960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· КОМАНДА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Основатель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645920" cy="1645920"/>
          </a:xfrm>
          <a:prstGeom prst="ellipse">
            <a:avLst/>
          </a:prstGeom>
          <a:solidFill>
            <a:srgbClr val="131A26"/>
          </a:solidFill>
          <a:ln w="19050">
            <a:solidFill>
              <a:srgbClr val="34E27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2024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ФОТО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51760" y="196596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Имя Фамилия ]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651760" y="246888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Основатель · backend-разработчик · автор продукта и движка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651760" y="297180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 спроектировал и собрал работающий продукт v2.0.2: математический движок (SAW, Avalanche, Монте-Карло), бэкенд и интерфейс. Сильное доказательство исполнения — продукт уже есть, а не на бумаге.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2976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  Заполни имя/фото. План команды на найм — на следующем этапе.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</a:t>
            </a:r>
            <a:pPr algn="l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· ЧЕГО ПРОСИМ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Инвестиции и дорожная карта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0" cy="2606040"/>
          </a:xfrm>
          <a:prstGeom prst="roundRect">
            <a:avLst>
              <a:gd name="adj" fmla="val 2807"/>
            </a:avLst>
          </a:prstGeom>
          <a:solidFill>
            <a:srgbClr val="131A26"/>
          </a:solidFill>
          <a:ln w="19050">
            <a:solidFill>
              <a:srgbClr val="34E27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11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Привлекаем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сумма ]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77240" y="2971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[N] месяцев. Куда: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2918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Продукт и мобайл (Telegram-бот)</a:t>
            </a:r>
            <a:endParaRPr lang="en-US" sz="12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Органический рост и контент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Первый B2B-пилот с финсоветниками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0" y="17830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ДОРОЖНАЯ КАРТА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2194560"/>
            <a:ext cx="146304" cy="146304"/>
          </a:xfrm>
          <a:prstGeom prst="ellipse">
            <a:avLst/>
          </a:prstGeom>
          <a:solidFill>
            <a:srgbClr val="34E27D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209397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Сейчас → 6 мес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240487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Telegram-бот, онбординг до aha, замер retention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17720" y="2971800"/>
            <a:ext cx="146304" cy="146304"/>
          </a:xfrm>
          <a:prstGeom prst="ellipse">
            <a:avLst/>
          </a:prstGeom>
          <a:solidFill>
            <a:srgbClr val="5BE89A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287121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→ 18 мес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318211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Платный движок, органика, первый B2B-пилот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17720" y="3749040"/>
            <a:ext cx="146304" cy="146304"/>
          </a:xfrm>
          <a:prstGeom prst="ellipse">
            <a:avLst/>
          </a:prstGeom>
          <a:solidFill>
            <a:srgbClr val="8B7CF6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3648456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18+ мес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395935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B2B-инфраструктура (API, white-label) — основная выручка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34E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</a:t>
            </a:r>
            <a:pPr algn="l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914400"/>
            <a:ext cx="3108960" cy="2880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5544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</a:t>
            </a:r>
            <a:endParaRPr lang="en-US" sz="5000" dirty="0"/>
          </a:p>
        </p:txBody>
      </p:sp>
      <p:sp>
        <p:nvSpPr>
          <p:cNvPr id="4" name="Text 1"/>
          <p:cNvSpPr/>
          <p:nvPr/>
        </p:nvSpPr>
        <p:spPr>
          <a:xfrm>
            <a:off x="566928" y="25146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E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Сделать грамотные финансовые решения доступными каждому — прозрачно и понятно.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66928" y="3840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E2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PILOT</a:t>
            </a:r>
            <a:pPr indent="0" marL="0">
              <a:buNone/>
            </a:pPr>
            <a:r>
              <a:rPr lang="en-US" sz="1300" dirty="0">
                <a:solidFill>
                  <a:srgbClr val="6B7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[ контакт / @telegram ]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FINPILOT — Investor Deck</dc:title>
  <dc:subject>PptxGenJS Presentation</dc:subject>
  <dc:creator>FINPILOT</dc:creator>
  <cp:lastModifiedBy>FINPILOT</cp:lastModifiedBy>
  <cp:revision>1</cp:revision>
  <dcterms:created xsi:type="dcterms:W3CDTF">2026-05-31T02:41:21Z</dcterms:created>
  <dcterms:modified xsi:type="dcterms:W3CDTF">2026-05-31T02:41:21Z</dcterms:modified>
</cp:coreProperties>
</file>